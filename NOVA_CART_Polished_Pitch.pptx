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2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548640"/>
            <a:ext cx="2011680" cy="2011680"/>
          </a:xfrm>
          <a:prstGeom prst="ellipse">
            <a:avLst/>
          </a:prstGeom>
          <a:solidFill>
            <a:srgbClr val="2A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98480" y="2011680"/>
            <a:ext cx="914400" cy="914400"/>
          </a:xfrm>
          <a:prstGeom prst="ellipse">
            <a:avLst/>
          </a:prstGeom>
          <a:solidFill>
            <a:srgbClr val="1EAB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778240" y="2743200"/>
            <a:ext cx="1280160" cy="1280160"/>
          </a:xfrm>
          <a:prstGeom prst="ellipse">
            <a:avLst/>
          </a:prstGeom>
          <a:solidFill>
            <a:srgbClr val="F49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9601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AB9F"/>
                </a:solidFill>
                <a:latin typeface="Aptos"/>
              </a:defRPr>
            </a:pPr>
            <a:r>
              <a:t>NOVA CART  |  STRATEGY PITCH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795527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ptos"/>
              </a:defRPr>
            </a:pPr>
            <a:r>
              <a:t>NOVA SYNC</a:t>
            </a:r>
            <a:br/>
            <a:r>
              <a:t>&amp; LOCAL HUB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33756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DAE5F3"/>
                </a:solidFill>
                <a:latin typeface="Aptos"/>
              </a:defRPr>
            </a:pPr>
            <a:r>
              <a:t>Making local-commerce inventory more reliable—</a:t>
            </a:r>
            <a:br/>
            <a:r>
              <a:t>without building new physical infrastructure.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8978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AEC2DB"/>
                </a:solidFill>
                <a:latin typeface="Aptos"/>
              </a:defRPr>
            </a:pPr>
            <a:r>
              <a:t>Problem • Solution • Impact • Risks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AB9F"/>
                </a:solidFill>
                <a:latin typeface="Aptos"/>
              </a:defRPr>
            </a:pPr>
            <a:r>
              <a:t>01 / PROBLEM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1203B"/>
                </a:solidFill>
                <a:latin typeface="Aptos"/>
              </a:defRPr>
            </a:pPr>
            <a:r>
              <a:t>The problem: listed stock doesn’t match shelf stock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914400" cy="54864"/>
          </a:xfrm>
          <a:prstGeom prst="rect">
            <a:avLst/>
          </a:prstGeom>
          <a:solidFill>
            <a:srgbClr val="1EAB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691640"/>
            <a:ext cx="3520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691640"/>
            <a:ext cx="64008" cy="1417320"/>
          </a:xfrm>
          <a:prstGeom prst="rect">
            <a:avLst/>
          </a:prstGeom>
          <a:solidFill>
            <a:srgbClr val="1EAB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74520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1203B"/>
                </a:solidFill>
                <a:latin typeface="Aptos"/>
              </a:defRPr>
            </a:pPr>
            <a:r>
              <a:t>35%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50008"/>
            <a:ext cx="308152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63142"/>
                </a:solidFill>
                <a:latin typeface="Aptos"/>
              </a:defRPr>
            </a:pPr>
            <a:r>
              <a:t>of cancellations are attributed to items shown as available but out of stock.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1691640"/>
            <a:ext cx="3520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15968" y="1691640"/>
            <a:ext cx="64008" cy="1417320"/>
          </a:xfrm>
          <a:prstGeom prst="rect">
            <a:avLst/>
          </a:prstGeom>
          <a:solidFill>
            <a:srgbClr val="2A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1874520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1203B"/>
                </a:solidFill>
                <a:latin typeface="Aptos"/>
              </a:defRPr>
            </a:pPr>
            <a:r>
              <a:t>61%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350008"/>
            <a:ext cx="308152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63142"/>
                </a:solidFill>
                <a:latin typeface="Aptos"/>
              </a:defRPr>
            </a:pPr>
            <a:r>
              <a:t>of users who left were previously high-rated (4★ or 5★), per the pitch data.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37575" y="1691640"/>
            <a:ext cx="3520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37575" y="1691640"/>
            <a:ext cx="64008" cy="1417320"/>
          </a:xfrm>
          <a:prstGeom prst="rect">
            <a:avLst/>
          </a:prstGeom>
          <a:solidFill>
            <a:srgbClr val="F49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5" y="1874520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1203B"/>
                </a:solidFill>
                <a:latin typeface="Aptos"/>
              </a:defRPr>
            </a:pPr>
            <a:r>
              <a:t>1–3 days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5" y="2350008"/>
            <a:ext cx="308152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63142"/>
                </a:solidFill>
                <a:latin typeface="Aptos"/>
              </a:defRPr>
            </a:pPr>
            <a:r>
              <a:t>reported inventory-update interval among store owners who find tools complex.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65760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03B"/>
                </a:solidFill>
                <a:latin typeface="Aptos"/>
              </a:defRPr>
            </a:pPr>
            <a:r>
              <a:t>What this means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160520"/>
            <a:ext cx="105156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63142"/>
                </a:solidFill>
                <a:latin typeface="Aptos"/>
              </a:defRPr>
            </a:pPr>
            <a:r>
              <a:t>Customers experience a broken promise: the app says “available,” but the partner store cannot fulfill the order. The pitch also estimates ₹17 lakh/month in acquisition spend exposed to this fulfillment problem.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17220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37387"/>
                </a:solidFill>
                <a:latin typeface="Aptos"/>
              </a:defRPr>
            </a:pPr>
            <a:r>
              <a:t>Source: figures and claims supplied in the 3-slide NOVA CART pitch; validate against company data before presenting.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AB9F"/>
                </a:solidFill>
                <a:latin typeface="Aptos"/>
              </a:defRPr>
            </a:pPr>
            <a:r>
              <a:t>02 / ROOT-CAUSE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1203B"/>
                </a:solidFill>
                <a:latin typeface="Aptos"/>
              </a:defRPr>
            </a:pPr>
            <a:r>
              <a:t>Why the gap happens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914400" cy="54864"/>
          </a:xfrm>
          <a:prstGeom prst="rect">
            <a:avLst/>
          </a:prstGeom>
          <a:solidFill>
            <a:srgbClr val="1EAB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34290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0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828800"/>
            <a:ext cx="64008" cy="1920240"/>
          </a:xfrm>
          <a:prstGeom prst="rect">
            <a:avLst/>
          </a:prstGeom>
          <a:solidFill>
            <a:srgbClr val="2A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1203B"/>
                </a:solidFill>
                <a:latin typeface="Aptos"/>
              </a:defRPr>
            </a:pPr>
            <a:r>
              <a:t>Store-side friction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87168"/>
            <a:ext cx="2990088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63142"/>
                </a:solidFill>
                <a:latin typeface="Aptos"/>
              </a:defRPr>
            </a:pPr>
            <a:r>
              <a:t>Complex catalog tools make frequent stock updates difficult.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828800"/>
            <a:ext cx="34290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0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828800"/>
            <a:ext cx="64008" cy="1920240"/>
          </a:xfrm>
          <a:prstGeom prst="rect">
            <a:avLst/>
          </a:prstGeom>
          <a:solidFill>
            <a:srgbClr val="F49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2011680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1203B"/>
                </a:solidFill>
                <a:latin typeface="Aptos"/>
              </a:defRPr>
            </a:pPr>
            <a:r>
              <a:t>Inventory drift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487168"/>
            <a:ext cx="2990088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63142"/>
                </a:solidFill>
                <a:latin typeface="Aptos"/>
              </a:defRPr>
            </a:pPr>
            <a:r>
              <a:t>Offline purchases can deplete stock between app updates.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828800"/>
            <a:ext cx="34290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0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828800"/>
            <a:ext cx="64008" cy="1920240"/>
          </a:xfrm>
          <a:prstGeom prst="rect">
            <a:avLst/>
          </a:prstGeom>
          <a:solidFill>
            <a:srgbClr val="1EAB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2011680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1203B"/>
                </a:solidFill>
                <a:latin typeface="Aptos"/>
              </a:defRPr>
            </a:pPr>
            <a:r>
              <a:t>Customer fallout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487168"/>
            <a:ext cx="2990088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63142"/>
                </a:solidFill>
                <a:latin typeface="Aptos"/>
              </a:defRPr>
            </a:pPr>
            <a:r>
              <a:t>Unavailable items cause cancellations, support contacts, and lost repeat orders.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617720"/>
            <a:ext cx="10241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1203B"/>
                </a:solidFill>
                <a:latin typeface="Aptos"/>
              </a:defRPr>
            </a:pPr>
            <a:r>
              <a:t>Core insight: this is not only a customer-acquisition issue. It is an inventory accuracy and fulfillment workflow issue.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AB9F"/>
                </a:solidFill>
                <a:latin typeface="Aptos"/>
              </a:defRPr>
            </a:pPr>
            <a:r>
              <a:t>03 / SOLUTION BLUEPRINT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1203B"/>
                </a:solidFill>
                <a:latin typeface="Aptos"/>
              </a:defRPr>
            </a:pPr>
            <a:r>
              <a:t>Solution: Nova Sync &amp; Local Hub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914400" cy="54864"/>
          </a:xfrm>
          <a:prstGeom prst="rect">
            <a:avLst/>
          </a:prstGeom>
          <a:solidFill>
            <a:srgbClr val="1EAB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691640"/>
            <a:ext cx="534924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0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691640"/>
            <a:ext cx="64008" cy="1508760"/>
          </a:xfrm>
          <a:prstGeom prst="rect">
            <a:avLst/>
          </a:prstGeom>
          <a:solidFill>
            <a:srgbClr val="1EAB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74520"/>
            <a:ext cx="493775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1203B"/>
                </a:solidFill>
                <a:latin typeface="Aptos"/>
              </a:defRPr>
            </a:pPr>
            <a:r>
              <a:t>1. One-tap merchant sync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50008"/>
            <a:ext cx="4910327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63142"/>
                </a:solidFill>
                <a:latin typeface="Aptos"/>
              </a:defRPr>
            </a:pPr>
            <a:r>
              <a:t>A simple mobile “In Stock / Out of Stock” toggle designed to reduce update effort.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91640"/>
            <a:ext cx="534924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0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691640"/>
            <a:ext cx="64008" cy="1508760"/>
          </a:xfrm>
          <a:prstGeom prst="rect">
            <a:avLst/>
          </a:prstGeom>
          <a:solidFill>
            <a:srgbClr val="2A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874520"/>
            <a:ext cx="493775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1203B"/>
                </a:solidFill>
                <a:latin typeface="Aptos"/>
              </a:defRPr>
            </a:pPr>
            <a:r>
              <a:t>2. Verified-stock checkout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350008"/>
            <a:ext cx="4910327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63142"/>
                </a:solidFill>
                <a:latin typeface="Aptos"/>
              </a:defRPr>
            </a:pPr>
            <a:r>
              <a:t>Use the latest confirmed stock status before accepting an order.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474720"/>
            <a:ext cx="534924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0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3474720"/>
            <a:ext cx="64008" cy="1508760"/>
          </a:xfrm>
          <a:prstGeom prst="rect">
            <a:avLst/>
          </a:prstGeom>
          <a:solidFill>
            <a:srgbClr val="F49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657600"/>
            <a:ext cx="493775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1203B"/>
                </a:solidFill>
                <a:latin typeface="Aptos"/>
              </a:defRPr>
            </a:pPr>
            <a:r>
              <a:t>3. Nearby alternative routing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133087"/>
            <a:ext cx="4910327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63142"/>
                </a:solidFill>
                <a:latin typeface="Aptos"/>
              </a:defRPr>
            </a:pPr>
            <a:r>
              <a:t>When Store A is out, offer/reroute to a nearby Store B if the item is confirmed there.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474720"/>
            <a:ext cx="534924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0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3474720"/>
            <a:ext cx="64008" cy="1508760"/>
          </a:xfrm>
          <a:prstGeom prst="rect">
            <a:avLst/>
          </a:prstGeom>
          <a:solidFill>
            <a:srgbClr val="1EAB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657600"/>
            <a:ext cx="493775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1203B"/>
                </a:solidFill>
                <a:latin typeface="Aptos"/>
              </a:defRPr>
            </a:pPr>
            <a:r>
              <a:t>4. Cross-category basket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133087"/>
            <a:ext cx="4910327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63142"/>
                </a:solidFill>
                <a:latin typeface="Aptos"/>
              </a:defRPr>
            </a:pPr>
            <a:r>
              <a:t>Support combined grocery, bakery, and pharmacy checkout where operations allow.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7150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1203B"/>
                </a:solidFill>
                <a:latin typeface="Aptos"/>
              </a:defRPr>
            </a:pPr>
            <a:r>
              <a:t>Proposed budget: ₹8.5 lakh from a stated ₹25 lakh limit; remaining runway: ₹16.5 lakh.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AB9F"/>
                </a:solidFill>
                <a:latin typeface="Aptos"/>
              </a:defRPr>
            </a:pPr>
            <a:r>
              <a:t>04 / CUSTOMER AND MERCHANT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1203B"/>
                </a:solidFill>
                <a:latin typeface="Aptos"/>
              </a:defRPr>
            </a:pPr>
            <a:r>
              <a:t>How the experience 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914400" cy="54864"/>
          </a:xfrm>
          <a:prstGeom prst="rect">
            <a:avLst/>
          </a:prstGeom>
          <a:solidFill>
            <a:srgbClr val="1EAB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2331720"/>
            <a:ext cx="20574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606040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A68BE"/>
                </a:solidFill>
                <a:latin typeface="Aptos"/>
              </a:defRPr>
            </a:pPr>
            <a:r>
              <a:t>Merchant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" y="3127248"/>
            <a:ext cx="176479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63142"/>
                </a:solidFill>
                <a:latin typeface="Aptos"/>
              </a:defRPr>
            </a:pPr>
            <a:r>
              <a:t>Updates stock with a quick toggle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87752" y="29260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637387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62072" y="2331720"/>
            <a:ext cx="20574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99232" y="2606040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AB9F"/>
                </a:solidFill>
                <a:latin typeface="Aptos"/>
              </a:defRPr>
            </a:pPr>
            <a:r>
              <a:t>Sync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08376" y="3127248"/>
            <a:ext cx="176479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63142"/>
                </a:solidFill>
                <a:latin typeface="Aptos"/>
              </a:defRPr>
            </a:pPr>
            <a:r>
              <a:t>Records the latest status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46904" y="29260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637387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21224" y="2331720"/>
            <a:ext cx="20574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58384" y="2606040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A68BE"/>
                </a:solidFill>
                <a:latin typeface="Aptos"/>
              </a:defRPr>
            </a:pPr>
            <a:r>
              <a:t>Customer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67528" y="3127248"/>
            <a:ext cx="176479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63142"/>
                </a:solidFill>
                <a:latin typeface="Aptos"/>
              </a:defRPr>
            </a:pPr>
            <a:r>
              <a:t>Sees availability before checkout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06056" y="29260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637387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80376" y="2331720"/>
            <a:ext cx="20574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17536" y="2606040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AB9F"/>
                </a:solidFill>
                <a:latin typeface="Aptos"/>
              </a:defRPr>
            </a:pPr>
            <a:r>
              <a:t>Fallback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26680" y="3127248"/>
            <a:ext cx="176479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63142"/>
                </a:solidFill>
                <a:latin typeface="Aptos"/>
              </a:defRPr>
            </a:pPr>
            <a:r>
              <a:t>Nearby confirmed option if unavailable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65208" y="29260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637387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939528" y="2331720"/>
            <a:ext cx="20574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76688" y="2606040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A68BE"/>
                </a:solidFill>
                <a:latin typeface="Aptos"/>
              </a:defRPr>
            </a:pPr>
            <a:r>
              <a:t>Outcome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85832" y="3127248"/>
            <a:ext cx="176479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63142"/>
                </a:solidFill>
                <a:latin typeface="Aptos"/>
              </a:defRPr>
            </a:pPr>
            <a:r>
              <a:t>Fewer failed orders and support cases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983480"/>
            <a:ext cx="10241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1203B"/>
                </a:solidFill>
                <a:latin typeface="Aptos"/>
              </a:defRPr>
            </a:pPr>
            <a:r>
              <a:t>Important design detail: treat stock as “last confirmed,” not guaranteed real-time truth. Add freshness timestamps and a low-stock buffer.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AB9F"/>
                </a:solidFill>
                <a:latin typeface="Aptos"/>
              </a:defRPr>
            </a:pPr>
            <a:r>
              <a:t>05 / BUSINESS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1203B"/>
                </a:solidFill>
                <a:latin typeface="Aptos"/>
              </a:defRPr>
            </a:pPr>
            <a:r>
              <a:t>Target outcomes to measure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914400" cy="54864"/>
          </a:xfrm>
          <a:prstGeom prst="rect">
            <a:avLst/>
          </a:prstGeom>
          <a:solidFill>
            <a:srgbClr val="1EAB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200400" cy="502920"/>
          </a:xfrm>
          <a:prstGeom prst="roundRect">
            <a:avLst/>
          </a:prstGeom>
          <a:solidFill>
            <a:srgbClr val="112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4708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Metric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737360"/>
            <a:ext cx="3200400" cy="502920"/>
          </a:xfrm>
          <a:prstGeom prst="roundRect">
            <a:avLst/>
          </a:prstGeom>
          <a:solidFill>
            <a:srgbClr val="112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184708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Current baseline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1737360"/>
            <a:ext cx="3474720" cy="502920"/>
          </a:xfrm>
          <a:prstGeom prst="roundRect">
            <a:avLst/>
          </a:prstGeom>
          <a:solidFill>
            <a:srgbClr val="112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79" y="1847088"/>
            <a:ext cx="3291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Target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423160"/>
            <a:ext cx="320040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E0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2587752"/>
            <a:ext cx="29809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63142"/>
                </a:solidFill>
                <a:latin typeface="Aptos"/>
              </a:defRPr>
            </a:pPr>
            <a:r>
              <a:t>Order cancellation rate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2423160"/>
            <a:ext cx="320040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E0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07408" y="2587752"/>
            <a:ext cx="29809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63142"/>
                </a:solidFill>
                <a:latin typeface="Aptos"/>
              </a:defRPr>
            </a:pPr>
            <a:r>
              <a:t>11%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63840" y="2423160"/>
            <a:ext cx="347472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E0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73567" y="2587752"/>
            <a:ext cx="325526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AB9F"/>
                </a:solidFill>
                <a:latin typeface="Aptos"/>
              </a:defRPr>
            </a:pPr>
            <a:r>
              <a:t>2.4%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337560"/>
            <a:ext cx="320040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E0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" y="3502152"/>
            <a:ext cx="29809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63142"/>
                </a:solidFill>
                <a:latin typeface="Aptos"/>
              </a:defRPr>
            </a:pPr>
            <a:r>
              <a:t>Support tickets / month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0" y="3337560"/>
            <a:ext cx="320040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E0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07408" y="3502152"/>
            <a:ext cx="29809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63142"/>
                </a:solidFill>
                <a:latin typeface="Aptos"/>
              </a:defRPr>
            </a:pPr>
            <a:r>
              <a:t>5,900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63840" y="3337560"/>
            <a:ext cx="347472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E0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73567" y="3502152"/>
            <a:ext cx="325526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AB9F"/>
                </a:solidFill>
                <a:latin typeface="Aptos"/>
              </a:defRPr>
            </a:pPr>
            <a:r>
              <a:t>1,800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251960"/>
            <a:ext cx="320040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E0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" y="4416552"/>
            <a:ext cx="29809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63142"/>
                </a:solidFill>
                <a:latin typeface="Aptos"/>
              </a:defRPr>
            </a:pPr>
            <a:r>
              <a:t>Repeat purchase rate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0" y="4251960"/>
            <a:ext cx="320040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E0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07408" y="4416552"/>
            <a:ext cx="29809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63142"/>
                </a:solidFill>
                <a:latin typeface="Aptos"/>
              </a:defRPr>
            </a:pPr>
            <a:r>
              <a:t>27%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63840" y="4251960"/>
            <a:ext cx="347472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E0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73567" y="4416552"/>
            <a:ext cx="325526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AB9F"/>
                </a:solidFill>
                <a:latin typeface="Aptos"/>
              </a:defRPr>
            </a:pPr>
            <a:r>
              <a:t>48%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53212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37387"/>
                </a:solidFill>
                <a:latin typeface="Aptos"/>
              </a:defRPr>
            </a:pPr>
            <a:r>
              <a:t>These are projections in the source pitch—not verified results. Run a pilot and compare actual performance with a baseline.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AB9F"/>
                </a:solidFill>
                <a:latin typeface="Aptos"/>
              </a:defRPr>
            </a:pPr>
            <a:r>
              <a:t>06 /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1203B"/>
                </a:solidFill>
                <a:latin typeface="Aptos"/>
              </a:defRPr>
            </a:pPr>
            <a:r>
              <a:t>Risks, safeguards, and pilot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914400" cy="54864"/>
          </a:xfrm>
          <a:prstGeom prst="rect">
            <a:avLst/>
          </a:prstGeom>
          <a:solidFill>
            <a:srgbClr val="1EAB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691640"/>
            <a:ext cx="53492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691640"/>
            <a:ext cx="64008" cy="1417320"/>
          </a:xfrm>
          <a:prstGeom prst="rect">
            <a:avLst/>
          </a:prstGeom>
          <a:solidFill>
            <a:srgbClr val="F49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74520"/>
            <a:ext cx="493775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1203B"/>
                </a:solidFill>
                <a:latin typeface="Aptos"/>
              </a:defRPr>
            </a:pPr>
            <a:r>
              <a:t>Merchant forgets to update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50008"/>
            <a:ext cx="4910327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63142"/>
                </a:solidFill>
                <a:latin typeface="Aptos"/>
              </a:defRPr>
            </a:pPr>
            <a:r>
              <a:t>WhatsApp prompts, simple reminders, and visible “last updated” time.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91640"/>
            <a:ext cx="53492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691640"/>
            <a:ext cx="64008" cy="1417320"/>
          </a:xfrm>
          <a:prstGeom prst="rect">
            <a:avLst/>
          </a:prstGeom>
          <a:solidFill>
            <a:srgbClr val="2A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874520"/>
            <a:ext cx="493775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1203B"/>
                </a:solidFill>
                <a:latin typeface="Aptos"/>
              </a:defRPr>
            </a:pPr>
            <a:r>
              <a:t>Peak-hour stock drift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350008"/>
            <a:ext cx="4910327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63142"/>
                </a:solidFill>
                <a:latin typeface="Aptos"/>
              </a:defRPr>
            </a:pPr>
            <a:r>
              <a:t>Low-stock buffers, rapid re-confirmation, and avoid promising uncertain inventory.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429000"/>
            <a:ext cx="53492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3429000"/>
            <a:ext cx="64008" cy="1417320"/>
          </a:xfrm>
          <a:prstGeom prst="rect">
            <a:avLst/>
          </a:prstGeom>
          <a:solidFill>
            <a:srgbClr val="1EAB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611880"/>
            <a:ext cx="493775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1203B"/>
                </a:solidFill>
                <a:latin typeface="Aptos"/>
              </a:defRPr>
            </a:pPr>
            <a:r>
              <a:t>Pilot before scaling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087368"/>
            <a:ext cx="4910327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63142"/>
                </a:solidFill>
                <a:latin typeface="Aptos"/>
              </a:defRPr>
            </a:pPr>
            <a:r>
              <a:t>Start with a small set of stores and high-frequency products; measure stock accuracy and fulfillment.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429000"/>
            <a:ext cx="53492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3429000"/>
            <a:ext cx="64008" cy="1417320"/>
          </a:xfrm>
          <a:prstGeom prst="rect">
            <a:avLst/>
          </a:prstGeom>
          <a:solidFill>
            <a:srgbClr val="1EAB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611880"/>
            <a:ext cx="493775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1203B"/>
                </a:solidFill>
                <a:latin typeface="Aptos"/>
              </a:defRPr>
            </a:pPr>
            <a:r>
              <a:t>Track the right KPIs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087368"/>
            <a:ext cx="4910327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63142"/>
                </a:solidFill>
                <a:latin typeface="Aptos"/>
              </a:defRPr>
            </a:pPr>
            <a:r>
              <a:t>Cancellation rate, substitution acceptance, stock-status accuracy, repeat purchase, and support volume.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48640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1203B"/>
                </a:solidFill>
                <a:latin typeface="Aptos"/>
              </a:defRPr>
            </a:pPr>
            <a:r>
              <a:t>Recommendation: proceed to a controlled pilot—after validating the baseline numbers, merchant willingness, and integration effort.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2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AB9F"/>
                </a:solidFill>
                <a:latin typeface="Aptos"/>
              </a:defRPr>
            </a:pPr>
            <a:r>
              <a:t>NOVA CART  |  THE 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241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ptos"/>
              </a:defRPr>
            </a:pPr>
            <a:r>
              <a:t>Fix the promise before scaling the promise.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880360"/>
            <a:ext cx="98755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DAE5F3"/>
                </a:solidFill>
                <a:latin typeface="Aptos"/>
              </a:defRPr>
            </a:pPr>
            <a:r>
              <a:t>Nova Sync &amp; Local Hub aims to connect what the app shows with what local stores can actually fulfill—using simpler merchant updates and nearby alternatives.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892040"/>
            <a:ext cx="9875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AB9F"/>
                </a:solidFill>
                <a:latin typeface="Aptos"/>
              </a:defRPr>
            </a:pPr>
            <a:r>
              <a:t>Next step: validate the data → test with pilot stores → compare results → refine before rollout.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61722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Aptos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